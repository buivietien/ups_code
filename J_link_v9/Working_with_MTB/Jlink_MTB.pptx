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1589" y="-6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434FD3-BB24-436B-BCDD-13B56CE8CE30}"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2968442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434FD3-BB24-436B-BCDD-13B56CE8CE30}"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1093410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solidFill>
              </a:defRPr>
            </a:lvl1pPr>
            <a:lvl2pPr marL="480060" indent="0">
              <a:buNone/>
              <a:defRPr sz="2100">
                <a:solidFill>
                  <a:schemeClr val="tx1">
                    <a:tint val="75000"/>
                  </a:schemeClr>
                </a:solidFill>
              </a:defRPr>
            </a:lvl2pPr>
            <a:lvl3pPr marL="960120" indent="0">
              <a:buNone/>
              <a:defRPr sz="1890">
                <a:solidFill>
                  <a:schemeClr val="tx1">
                    <a:tint val="75000"/>
                  </a:schemeClr>
                </a:solidFill>
              </a:defRPr>
            </a:lvl3pPr>
            <a:lvl4pPr marL="1440180" indent="0">
              <a:buNone/>
              <a:defRPr sz="1680">
                <a:solidFill>
                  <a:schemeClr val="tx1">
                    <a:tint val="75000"/>
                  </a:schemeClr>
                </a:solidFill>
              </a:defRPr>
            </a:lvl4pPr>
            <a:lvl5pPr marL="1920240" indent="0">
              <a:buNone/>
              <a:defRPr sz="1680">
                <a:solidFill>
                  <a:schemeClr val="tx1">
                    <a:tint val="75000"/>
                  </a:schemeClr>
                </a:solidFill>
              </a:defRPr>
            </a:lvl5pPr>
            <a:lvl6pPr marL="2400300" indent="0">
              <a:buNone/>
              <a:defRPr sz="1680">
                <a:solidFill>
                  <a:schemeClr val="tx1">
                    <a:tint val="75000"/>
                  </a:schemeClr>
                </a:solidFill>
              </a:defRPr>
            </a:lvl6pPr>
            <a:lvl7pPr marL="2880360" indent="0">
              <a:buNone/>
              <a:defRPr sz="1680">
                <a:solidFill>
                  <a:schemeClr val="tx1">
                    <a:tint val="75000"/>
                  </a:schemeClr>
                </a:solidFill>
              </a:defRPr>
            </a:lvl7pPr>
            <a:lvl8pPr marL="3360420" indent="0">
              <a:buNone/>
              <a:defRPr sz="1680">
                <a:solidFill>
                  <a:schemeClr val="tx1">
                    <a:tint val="75000"/>
                  </a:schemeClr>
                </a:solidFill>
              </a:defRPr>
            </a:lvl8pPr>
            <a:lvl9pPr marL="384048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434FD3-BB24-436B-BCDD-13B56CE8CE30}"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2422623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434FD3-BB24-436B-BCDD-13B56CE8CE30}"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1872776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4" name="Content Placeholder 3"/>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6" name="Content Placeholder 5"/>
          <p:cNvSpPr>
            <a:spLocks noGrp="1"/>
          </p:cNvSpPr>
          <p:nvPr>
            <p:ph sz="quarter" idx="4"/>
          </p:nvPr>
        </p:nvSpPr>
        <p:spPr>
          <a:xfrm>
            <a:off x="4860608"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434FD3-BB24-436B-BCDD-13B56CE8CE30}" type="datetimeFigureOut">
              <a:rPr lang="en-US" smtClean="0"/>
              <a:t>5/4/2025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1486022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434FD3-BB24-436B-BCDD-13B56CE8CE30}" type="datetimeFigureOut">
              <a:rPr lang="en-US" smtClean="0"/>
              <a:t>5/4/2025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4004843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434FD3-BB24-436B-BCDD-13B56CE8CE30}" type="datetimeFigureOut">
              <a:rPr lang="en-US" smtClean="0"/>
              <a:t>5/4/2025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1297518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E4434FD3-BB24-436B-BCDD-13B56CE8CE30}"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3699730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US"/>
              <a:t>Click icon to add picture</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E4434FD3-BB24-436B-BCDD-13B56CE8CE30}"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1229679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434FD3-BB24-436B-BCDD-13B56CE8CE30}"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224290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434FD3-BB24-436B-BCDD-13B56CE8CE30}"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AE5557-6A6C-452C-8032-CD335D7EEFB8}" type="slidenum">
              <a:rPr lang="en-US" smtClean="0"/>
              <a:t>‹#›</a:t>
            </a:fld>
            <a:endParaRPr lang="en-US"/>
          </a:p>
        </p:txBody>
      </p:sp>
    </p:spTree>
    <p:extLst>
      <p:ext uri="{BB962C8B-B14F-4D97-AF65-F5344CB8AC3E}">
        <p14:creationId xmlns:p14="http://schemas.microsoft.com/office/powerpoint/2010/main" val="3183641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75000"/>
                  </a:schemeClr>
                </a:solidFill>
              </a:defRPr>
            </a:lvl1pPr>
          </a:lstStyle>
          <a:p>
            <a:fld id="{E4434FD3-BB24-436B-BCDD-13B56CE8CE30}" type="datetimeFigureOut">
              <a:rPr lang="en-US" smtClean="0"/>
              <a:t>5/4/2025</a:t>
            </a:fld>
            <a:endParaRPr lang="en-US"/>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75000"/>
                  </a:schemeClr>
                </a:solidFill>
              </a:defRPr>
            </a:lvl1pPr>
          </a:lstStyle>
          <a:p>
            <a:fld id="{E3AE5557-6A6C-452C-8032-CD335D7EEFB8}" type="slidenum">
              <a:rPr lang="en-US" smtClean="0"/>
              <a:t>‹#›</a:t>
            </a:fld>
            <a:endParaRPr lang="en-US"/>
          </a:p>
        </p:txBody>
      </p:sp>
      <p:sp>
        <p:nvSpPr>
          <p:cNvPr id="9" name="TextBox 8">
            <a:extLst>
              <a:ext uri="{FF2B5EF4-FFF2-40B4-BE49-F238E27FC236}">
                <a16:creationId xmlns:a16="http://schemas.microsoft.com/office/drawing/2014/main" id="{D2E4B633-CD67-ABC7-15E7-33A46DC68E62}"/>
              </a:ext>
            </a:extLst>
          </p:cNvPr>
          <p:cNvSpPr txBox="1"/>
          <p:nvPr userDrawn="1"/>
        </p:nvSpPr>
        <p:spPr>
          <a:xfrm>
            <a:off x="0" y="-23393400"/>
            <a:ext cx="1371600" cy="369332"/>
          </a:xfrm>
          <a:prstGeom prst="rect">
            <a:avLst/>
          </a:prstGeom>
          <a:noFill/>
        </p:spPr>
        <p:txBody>
          <a:bodyPr wrap="square" rtlCol="0">
            <a:spAutoFit/>
          </a:bodyPr>
          <a:lstStyle/>
          <a:p>
            <a:r>
              <a:rPr lang="en-US" dirty="0"/>
              <a:t>a</a:t>
            </a:r>
          </a:p>
        </p:txBody>
      </p:sp>
      <p:sp>
        <p:nvSpPr>
          <p:cNvPr id="10" name="TextBox 9">
            <a:extLst>
              <a:ext uri="{FF2B5EF4-FFF2-40B4-BE49-F238E27FC236}">
                <a16:creationId xmlns:a16="http://schemas.microsoft.com/office/drawing/2014/main" id="{B93C93B9-FCA4-63DD-9FF8-F9230832D806}"/>
              </a:ext>
            </a:extLst>
          </p:cNvPr>
          <p:cNvSpPr txBox="1"/>
          <p:nvPr userDrawn="1"/>
        </p:nvSpPr>
        <p:spPr>
          <a:xfrm>
            <a:off x="660083" y="35509200"/>
            <a:ext cx="2520315" cy="369332"/>
          </a:xfrm>
          <a:prstGeom prst="rect">
            <a:avLst/>
          </a:prstGeom>
          <a:noFill/>
        </p:spPr>
        <p:txBody>
          <a:bodyPr wrap="square" rtlCol="0">
            <a:spAutoFit/>
          </a:bodyPr>
          <a:lstStyle/>
          <a:p>
            <a:r>
              <a:rPr lang="en-US" dirty="0"/>
              <a:t>a</a:t>
            </a:r>
          </a:p>
        </p:txBody>
      </p:sp>
    </p:spTree>
    <p:extLst>
      <p:ext uri="{BB962C8B-B14F-4D97-AF65-F5344CB8AC3E}">
        <p14:creationId xmlns:p14="http://schemas.microsoft.com/office/powerpoint/2010/main" val="33505790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kb.segger.com/Setting_Up_Trace_with_Ozone" TargetMode="External"/><Relationship Id="rId3" Type="http://schemas.openxmlformats.org/officeDocument/2006/relationships/hyperlink" Target="https://kb.segger.com/J-Link_script_files#Adding_missing_ROM_table_entries" TargetMode="External"/><Relationship Id="rId7" Type="http://schemas.openxmlformats.org/officeDocument/2006/relationships/hyperlink" Target="https://www.segger.com/downloads/jlink/UM08025_Ozone.pdf" TargetMode="External"/><Relationship Id="rId2" Type="http://schemas.openxmlformats.org/officeDocument/2006/relationships/hyperlink" Target="https://kb.segger.com/How_to_configure_JLinkScript_files_to_enable_tracing" TargetMode="External"/><Relationship Id="rId1" Type="http://schemas.openxmlformats.org/officeDocument/2006/relationships/slideLayout" Target="../slideLayouts/slideLayout1.xml"/><Relationship Id="rId6" Type="http://schemas.openxmlformats.org/officeDocument/2006/relationships/hyperlink" Target="https://kb.segger.com/MTB_specifics#Command_strings_for_MTB_configuration" TargetMode="External"/><Relationship Id="rId11" Type="http://schemas.openxmlformats.org/officeDocument/2006/relationships/image" Target="../media/image2.png"/><Relationship Id="rId5" Type="http://schemas.openxmlformats.org/officeDocument/2006/relationships/hyperlink" Target="https://kb.segger.com/Debug_Probes_-_J-Link_%26_J-Trace#Core_specifics" TargetMode="External"/><Relationship Id="rId10" Type="http://schemas.openxmlformats.org/officeDocument/2006/relationships/image" Target="../media/image1.png"/><Relationship Id="rId4" Type="http://schemas.openxmlformats.org/officeDocument/2006/relationships/hyperlink" Target="https://kb.segger.com/J-Link_Command_Strings#CORESIGHT_SetMTBBaseAddr" TargetMode="External"/><Relationship Id="rId9" Type="http://schemas.openxmlformats.org/officeDocument/2006/relationships/hyperlink" Target="https://developerhelp.microchip.com/xwiki/bin/view/products/mcu-mpu/32bit-mcu/sam/samd21-mcu-overview/samd21-processor-overview/mtb/"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207C6F-C489-E029-E7E0-3C3E1647794D}"/>
              </a:ext>
            </a:extLst>
          </p:cNvPr>
          <p:cNvSpPr txBox="1"/>
          <p:nvPr/>
        </p:nvSpPr>
        <p:spPr>
          <a:xfrm>
            <a:off x="881743" y="0"/>
            <a:ext cx="7837714" cy="1200329"/>
          </a:xfrm>
          <a:prstGeom prst="rect">
            <a:avLst/>
          </a:prstGeom>
          <a:noFill/>
        </p:spPr>
        <p:txBody>
          <a:bodyPr wrap="square" rtlCol="0">
            <a:spAutoFit/>
          </a:bodyPr>
          <a:lstStyle/>
          <a:p>
            <a:pPr algn="ctr"/>
            <a:r>
              <a:rPr lang="en-US" sz="2400" b="1" dirty="0"/>
              <a:t>I want to enable tracing on Jlink to trace operations on the PIC32cm but for some reason the MTB is not working correctly</a:t>
            </a:r>
          </a:p>
        </p:txBody>
      </p:sp>
      <p:sp>
        <p:nvSpPr>
          <p:cNvPr id="3" name="TextBox 2">
            <a:extLst>
              <a:ext uri="{FF2B5EF4-FFF2-40B4-BE49-F238E27FC236}">
                <a16:creationId xmlns:a16="http://schemas.microsoft.com/office/drawing/2014/main" id="{79455A8C-DBCC-F356-AD29-9C738D53BA1D}"/>
              </a:ext>
            </a:extLst>
          </p:cNvPr>
          <p:cNvSpPr txBox="1"/>
          <p:nvPr/>
        </p:nvSpPr>
        <p:spPr>
          <a:xfrm>
            <a:off x="0" y="1600200"/>
            <a:ext cx="6278880" cy="11449288"/>
          </a:xfrm>
          <a:prstGeom prst="rect">
            <a:avLst/>
          </a:prstGeom>
          <a:noFill/>
        </p:spPr>
        <p:txBody>
          <a:bodyPr wrap="square" rtlCol="0">
            <a:spAutoFit/>
          </a:bodyPr>
          <a:lstStyle/>
          <a:p>
            <a:r>
              <a:rPr lang="en-US" dirty="0"/>
              <a:t>Here are the resources that I used: </a:t>
            </a:r>
          </a:p>
          <a:p>
            <a:r>
              <a:rPr lang="en-US" dirty="0">
                <a:hlinkClick r:id="rId2"/>
              </a:rPr>
              <a:t>https://kb.segger.com/How_to_configure_JLinkScript_files_to_enable_tracing</a:t>
            </a:r>
            <a:endParaRPr lang="en-US" dirty="0"/>
          </a:p>
          <a:p>
            <a:endParaRPr lang="en-US" dirty="0"/>
          </a:p>
          <a:p>
            <a:r>
              <a:rPr lang="en-US" dirty="0">
                <a:hlinkClick r:id="rId3"/>
              </a:rPr>
              <a:t>https://kb.segger.com/J-Link_script_files#Adding_missing_ROM_table_entries</a:t>
            </a:r>
            <a:endParaRPr lang="en-US" dirty="0"/>
          </a:p>
          <a:p>
            <a:endParaRPr lang="en-US" dirty="0"/>
          </a:p>
          <a:p>
            <a:r>
              <a:rPr lang="en-US" dirty="0"/>
              <a:t>Here are the MTB commands for Jlink:</a:t>
            </a:r>
          </a:p>
          <a:p>
            <a:r>
              <a:rPr lang="en-US" dirty="0">
                <a:hlinkClick r:id="rId4"/>
              </a:rPr>
              <a:t>https://kb.segger.com/J-Link_Command_Strings#CORESIGHT_SetMTBBaseAddr</a:t>
            </a:r>
            <a:endParaRPr lang="en-US" dirty="0"/>
          </a:p>
          <a:p>
            <a:endParaRPr lang="en-US" dirty="0"/>
          </a:p>
          <a:p>
            <a:r>
              <a:rPr lang="en-US" dirty="0"/>
              <a:t>To run these command from Ozone, I need to use this command: </a:t>
            </a:r>
            <a:r>
              <a:rPr lang="en-US" dirty="0" err="1"/>
              <a:t>Jlink.Exec</a:t>
            </a:r>
            <a:r>
              <a:rPr lang="en-US" dirty="0"/>
              <a:t>(“[Command]”)</a:t>
            </a:r>
          </a:p>
          <a:p>
            <a:endParaRPr lang="en-US" dirty="0"/>
          </a:p>
          <a:p>
            <a:endParaRPr lang="en-US" dirty="0"/>
          </a:p>
          <a:p>
            <a:r>
              <a:rPr lang="en-US" dirty="0"/>
              <a:t>Examples to run </a:t>
            </a:r>
            <a:r>
              <a:rPr lang="en-US" dirty="0" err="1"/>
              <a:t>Jtrace</a:t>
            </a:r>
            <a:r>
              <a:rPr lang="en-US" dirty="0"/>
              <a:t>: </a:t>
            </a:r>
          </a:p>
          <a:p>
            <a:r>
              <a:rPr lang="en-US" dirty="0">
                <a:hlinkClick r:id="rId5"/>
              </a:rPr>
              <a:t>https://kb.segger.com/Debug_Probes_-_J-Link_%26_J-Trace#Core_specifics</a:t>
            </a:r>
            <a:endParaRPr lang="en-US" dirty="0"/>
          </a:p>
          <a:p>
            <a:endParaRPr lang="en-US" dirty="0"/>
          </a:p>
          <a:p>
            <a:r>
              <a:rPr lang="en-US" dirty="0"/>
              <a:t>MTB specifics according to Jlink:</a:t>
            </a:r>
          </a:p>
          <a:p>
            <a:r>
              <a:rPr lang="en-US" dirty="0">
                <a:hlinkClick r:id="rId6"/>
              </a:rPr>
              <a:t>https://kb.segger.com/MTB_specifics#Command_strings_for_MTB_configuration</a:t>
            </a:r>
            <a:endParaRPr lang="en-US" dirty="0"/>
          </a:p>
          <a:p>
            <a:endParaRPr lang="en-US" dirty="0"/>
          </a:p>
          <a:p>
            <a:r>
              <a:rPr lang="en-US" dirty="0"/>
              <a:t>Ozone manual guides:</a:t>
            </a:r>
          </a:p>
          <a:p>
            <a:r>
              <a:rPr lang="en-US" dirty="0">
                <a:hlinkClick r:id="rId7"/>
              </a:rPr>
              <a:t>https://www.segger.com/downloads/jlink/UM08025_Ozone.pdf</a:t>
            </a:r>
            <a:endParaRPr lang="en-US" dirty="0"/>
          </a:p>
          <a:p>
            <a:endParaRPr lang="en-US" dirty="0"/>
          </a:p>
          <a:p>
            <a:r>
              <a:rPr lang="en-US" dirty="0"/>
              <a:t>Guide to set up trace with Ozone:</a:t>
            </a:r>
          </a:p>
          <a:p>
            <a:r>
              <a:rPr lang="en-US" dirty="0">
                <a:hlinkClick r:id="rId8"/>
              </a:rPr>
              <a:t>https://kb.segger.com/Setting_Up_Trace_with_Ozone</a:t>
            </a:r>
            <a:endParaRPr lang="en-US" dirty="0"/>
          </a:p>
          <a:p>
            <a:endParaRPr lang="en-US" dirty="0"/>
          </a:p>
          <a:p>
            <a:r>
              <a:rPr lang="en-US" dirty="0"/>
              <a:t>Add these commands at the top of </a:t>
            </a:r>
            <a:r>
              <a:rPr lang="en-US" dirty="0" err="1"/>
              <a:t>main.c</a:t>
            </a:r>
            <a:r>
              <a:rPr lang="en-US" dirty="0"/>
              <a:t> to enable the MTB tracer:</a:t>
            </a:r>
          </a:p>
          <a:p>
            <a:r>
              <a:rPr lang="en-US" dirty="0"/>
              <a:t>This is generated by ChatGPT.</a:t>
            </a:r>
          </a:p>
          <a:p>
            <a:endParaRPr lang="en-US" dirty="0"/>
          </a:p>
          <a:p>
            <a:r>
              <a:rPr lang="en-US" dirty="0"/>
              <a:t>Microchip description of MTB based on SAMD21:</a:t>
            </a:r>
          </a:p>
          <a:p>
            <a:r>
              <a:rPr lang="en-US" dirty="0">
                <a:hlinkClick r:id="rId9"/>
              </a:rPr>
              <a:t>https://developerhelp.microchip.com/xwiki/bin/view/products/mcu-mpu/32bit-mcu/sam/samd21-mcu-overview/samd21-processor-overview/mtb/</a:t>
            </a:r>
            <a:endParaRPr lang="en-US" dirty="0"/>
          </a:p>
          <a:p>
            <a:endParaRPr lang="en-US" dirty="0"/>
          </a:p>
          <a:p>
            <a:r>
              <a:rPr lang="en-US" dirty="0"/>
              <a:t>I can see the MTB options in </a:t>
            </a:r>
            <a:r>
              <a:rPr lang="en-US" dirty="0" err="1"/>
              <a:t>MPLab</a:t>
            </a:r>
            <a:r>
              <a:rPr lang="en-US" dirty="0"/>
              <a:t> X Ide but currently I cant access it, need to get it working first in </a:t>
            </a:r>
            <a:r>
              <a:rPr lang="en-US" dirty="0" err="1"/>
              <a:t>Mplab</a:t>
            </a:r>
            <a:r>
              <a:rPr lang="en-US" dirty="0"/>
              <a:t> X Ide before getting to work on Ozone.</a:t>
            </a:r>
          </a:p>
        </p:txBody>
      </p:sp>
      <p:pic>
        <p:nvPicPr>
          <p:cNvPr id="9" name="Picture 8">
            <a:extLst>
              <a:ext uri="{FF2B5EF4-FFF2-40B4-BE49-F238E27FC236}">
                <a16:creationId xmlns:a16="http://schemas.microsoft.com/office/drawing/2014/main" id="{F4B78E0A-F258-4FBD-3E74-DF2CE2247A04}"/>
              </a:ext>
            </a:extLst>
          </p:cNvPr>
          <p:cNvPicPr>
            <a:picLocks noChangeAspect="1"/>
          </p:cNvPicPr>
          <p:nvPr/>
        </p:nvPicPr>
        <p:blipFill>
          <a:blip r:embed="rId10"/>
          <a:stretch>
            <a:fillRect/>
          </a:stretch>
        </p:blipFill>
        <p:spPr>
          <a:xfrm>
            <a:off x="6278880" y="3499277"/>
            <a:ext cx="9601200" cy="1990907"/>
          </a:xfrm>
          <a:prstGeom prst="rect">
            <a:avLst/>
          </a:prstGeom>
        </p:spPr>
      </p:pic>
      <p:pic>
        <p:nvPicPr>
          <p:cNvPr id="14" name="Picture 13">
            <a:extLst>
              <a:ext uri="{FF2B5EF4-FFF2-40B4-BE49-F238E27FC236}">
                <a16:creationId xmlns:a16="http://schemas.microsoft.com/office/drawing/2014/main" id="{3F3454B6-6E76-D27E-88F2-341009A2D377}"/>
              </a:ext>
            </a:extLst>
          </p:cNvPr>
          <p:cNvPicPr>
            <a:picLocks noChangeAspect="1"/>
          </p:cNvPicPr>
          <p:nvPr/>
        </p:nvPicPr>
        <p:blipFill>
          <a:blip r:embed="rId11"/>
          <a:stretch>
            <a:fillRect/>
          </a:stretch>
        </p:blipFill>
        <p:spPr>
          <a:xfrm>
            <a:off x="7952500" y="8885403"/>
            <a:ext cx="6253960" cy="3500685"/>
          </a:xfrm>
          <a:prstGeom prst="rect">
            <a:avLst/>
          </a:prstGeom>
        </p:spPr>
      </p:pic>
    </p:spTree>
    <p:extLst>
      <p:ext uri="{BB962C8B-B14F-4D97-AF65-F5344CB8AC3E}">
        <p14:creationId xmlns:p14="http://schemas.microsoft.com/office/powerpoint/2010/main" val="114279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14B005-DB65-8431-13DC-61F168ED0F20}"/>
              </a:ext>
            </a:extLst>
          </p:cNvPr>
          <p:cNvSpPr txBox="1"/>
          <p:nvPr/>
        </p:nvSpPr>
        <p:spPr>
          <a:xfrm>
            <a:off x="883920" y="160020"/>
            <a:ext cx="7810500" cy="1200329"/>
          </a:xfrm>
          <a:prstGeom prst="rect">
            <a:avLst/>
          </a:prstGeom>
          <a:noFill/>
        </p:spPr>
        <p:txBody>
          <a:bodyPr wrap="square" rtlCol="0">
            <a:spAutoFit/>
          </a:bodyPr>
          <a:lstStyle/>
          <a:p>
            <a:pPr algn="ctr"/>
            <a:r>
              <a:rPr lang="en-US" sz="2400" b="1" dirty="0"/>
              <a:t>Found the </a:t>
            </a:r>
            <a:r>
              <a:rPr lang="en-US" sz="2400" b="1" dirty="0" err="1"/>
              <a:t>defition</a:t>
            </a:r>
            <a:r>
              <a:rPr lang="en-US" sz="2400" b="1" dirty="0"/>
              <a:t> for MTB on PIC32CM in the definition files here: </a:t>
            </a:r>
          </a:p>
          <a:p>
            <a:pPr algn="ctr"/>
            <a:endParaRPr lang="en-US" sz="2400" b="1" dirty="0"/>
          </a:p>
        </p:txBody>
      </p:sp>
      <p:pic>
        <p:nvPicPr>
          <p:cNvPr id="6" name="Picture 5">
            <a:extLst>
              <a:ext uri="{FF2B5EF4-FFF2-40B4-BE49-F238E27FC236}">
                <a16:creationId xmlns:a16="http://schemas.microsoft.com/office/drawing/2014/main" id="{55232A03-5D60-0CE7-4DD1-B292867C409F}"/>
              </a:ext>
            </a:extLst>
          </p:cNvPr>
          <p:cNvPicPr>
            <a:picLocks noChangeAspect="1"/>
          </p:cNvPicPr>
          <p:nvPr/>
        </p:nvPicPr>
        <p:blipFill>
          <a:blip r:embed="rId2"/>
          <a:stretch>
            <a:fillRect/>
          </a:stretch>
        </p:blipFill>
        <p:spPr>
          <a:xfrm>
            <a:off x="3927097" y="999859"/>
            <a:ext cx="5674103" cy="2706728"/>
          </a:xfrm>
          <a:prstGeom prst="rect">
            <a:avLst/>
          </a:prstGeom>
        </p:spPr>
      </p:pic>
      <p:sp>
        <p:nvSpPr>
          <p:cNvPr id="2" name="TextBox 1">
            <a:extLst>
              <a:ext uri="{FF2B5EF4-FFF2-40B4-BE49-F238E27FC236}">
                <a16:creationId xmlns:a16="http://schemas.microsoft.com/office/drawing/2014/main" id="{D5A7D083-3E50-A8E4-C54C-9D5C94452049}"/>
              </a:ext>
            </a:extLst>
          </p:cNvPr>
          <p:cNvSpPr txBox="1"/>
          <p:nvPr/>
        </p:nvSpPr>
        <p:spPr>
          <a:xfrm>
            <a:off x="-81280" y="3912463"/>
            <a:ext cx="4348480" cy="3693319"/>
          </a:xfrm>
          <a:prstGeom prst="rect">
            <a:avLst/>
          </a:prstGeom>
          <a:noFill/>
        </p:spPr>
        <p:txBody>
          <a:bodyPr wrap="square" rtlCol="0">
            <a:spAutoFit/>
          </a:bodyPr>
          <a:lstStyle/>
          <a:p>
            <a:r>
              <a:rPr lang="en-US" dirty="0"/>
              <a:t>I found out the MTB implementation in </a:t>
            </a:r>
            <a:r>
              <a:rPr lang="en-US" dirty="0" err="1"/>
              <a:t>MPLab</a:t>
            </a:r>
            <a:r>
              <a:rPr lang="en-US" dirty="0"/>
              <a:t> X Ide is just… continuously read that same memory section, like this: </a:t>
            </a:r>
          </a:p>
          <a:p>
            <a:endParaRPr lang="en-US" dirty="0"/>
          </a:p>
          <a:p>
            <a:r>
              <a:rPr lang="en-US" dirty="0"/>
              <a:t>After checking the log, there is not initialization for MTB in the traditional sense like in Ozone, specifically, the Base address needs to be set and then the location of the buffer should be set too. </a:t>
            </a:r>
          </a:p>
          <a:p>
            <a:endParaRPr lang="en-US" dirty="0"/>
          </a:p>
          <a:p>
            <a:r>
              <a:rPr lang="en-US" dirty="0"/>
              <a:t>Halting action is performed semi-automatically by MPLAB IDE, not by the Jlink. </a:t>
            </a:r>
          </a:p>
        </p:txBody>
      </p:sp>
      <p:pic>
        <p:nvPicPr>
          <p:cNvPr id="5" name="Picture 4">
            <a:extLst>
              <a:ext uri="{FF2B5EF4-FFF2-40B4-BE49-F238E27FC236}">
                <a16:creationId xmlns:a16="http://schemas.microsoft.com/office/drawing/2014/main" id="{250543E5-9B05-745F-3939-008DA9FFFFF9}"/>
              </a:ext>
            </a:extLst>
          </p:cNvPr>
          <p:cNvPicPr>
            <a:picLocks noChangeAspect="1"/>
          </p:cNvPicPr>
          <p:nvPr/>
        </p:nvPicPr>
        <p:blipFill>
          <a:blip r:embed="rId3"/>
          <a:stretch>
            <a:fillRect/>
          </a:stretch>
        </p:blipFill>
        <p:spPr>
          <a:xfrm>
            <a:off x="4267200" y="3912463"/>
            <a:ext cx="4427220" cy="3421034"/>
          </a:xfrm>
          <a:prstGeom prst="rect">
            <a:avLst/>
          </a:prstGeom>
        </p:spPr>
      </p:pic>
    </p:spTree>
    <p:extLst>
      <p:ext uri="{BB962C8B-B14F-4D97-AF65-F5344CB8AC3E}">
        <p14:creationId xmlns:p14="http://schemas.microsoft.com/office/powerpoint/2010/main" val="3328525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246</TotalTime>
  <Words>403</Words>
  <Application>Microsoft Office PowerPoint</Application>
  <PresentationFormat>A3 Paper (297x420 mm)</PresentationFormat>
  <Paragraphs>37</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NgoDucPhu</dc:creator>
  <cp:lastModifiedBy>Ngô Đức Phú</cp:lastModifiedBy>
  <cp:revision>54</cp:revision>
  <dcterms:created xsi:type="dcterms:W3CDTF">2023-05-30T04:16:34Z</dcterms:created>
  <dcterms:modified xsi:type="dcterms:W3CDTF">2025-05-04T09:18:36Z</dcterms:modified>
</cp:coreProperties>
</file>